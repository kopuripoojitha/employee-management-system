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63" r:id="rId5"/>
    <p:sldId id="298" r:id="rId6"/>
    <p:sldId id="260" r:id="rId7"/>
    <p:sldId id="299" r:id="rId8"/>
    <p:sldId id="301" r:id="rId9"/>
    <p:sldId id="302" r:id="rId10"/>
    <p:sldId id="303" r:id="rId11"/>
    <p:sldId id="264" r:id="rId12"/>
    <p:sldId id="265" r:id="rId13"/>
    <p:sldId id="268" r:id="rId14"/>
    <p:sldId id="269" r:id="rId15"/>
    <p:sldId id="281" r:id="rId16"/>
    <p:sldId id="278" r:id="rId17"/>
    <p:sldId id="283" r:id="rId18"/>
    <p:sldId id="284" r:id="rId19"/>
    <p:sldId id="291" r:id="rId20"/>
    <p:sldId id="292" r:id="rId21"/>
    <p:sldId id="296" r:id="rId22"/>
    <p:sldId id="295" r:id="rId23"/>
    <p:sldId id="294" r:id="rId24"/>
    <p:sldId id="259" r:id="rId25"/>
  </p:sldIdLst>
  <p:sldSz cx="12192000" cy="6858000"/>
  <p:notesSz cx="6858000" cy="9144000"/>
  <p:embeddedFontLst>
    <p:embeddedFont>
      <p:font typeface="Arial Rounded MT Bold" panose="020F0704030504030204" pitchFamily="34" charset="0"/>
      <p:regular r:id="rId27"/>
    </p:embeddedFon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E9783B-EFE5-48A6-936C-6D7DBE10A0F5}" v="5" dt="2026-06-26T11:03:58.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p:scale>
          <a:sx n="100" d="100"/>
          <a:sy n="100" d="100"/>
        </p:scale>
        <p:origin x="-106" y="-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16947317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814676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99137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50113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46010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3323B-9742-5E40-72BA-2E3050036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C4F2D-89B8-0456-D881-AB37F4320F4B}"/>
              </a:ext>
            </a:extLst>
          </p:cNvPr>
          <p:cNvSpPr>
            <a:spLocks noGrp="1" noRot="1" noChangeAspect="1"/>
          </p:cNvSpPr>
          <p:nvPr>
            <p:ph type="sldImg" idx="3"/>
          </p:nvPr>
        </p:nvSpPr>
        <p:spPr/>
      </p:sp>
      <p:sp>
        <p:nvSpPr>
          <p:cNvPr id="3" name="Text Placeholder 2">
            <a:extLst>
              <a:ext uri="{FF2B5EF4-FFF2-40B4-BE49-F238E27FC236}">
                <a16:creationId xmlns:a16="http://schemas.microsoft.com/office/drawing/2014/main" id="{5096E7C9-D722-2076-EC0F-91E67BF13A9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65850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96BB-FD13-309C-C907-92BC0E9B7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55290-8E18-A5A7-2A26-9FC4981B2D4C}"/>
              </a:ext>
            </a:extLst>
          </p:cNvPr>
          <p:cNvSpPr>
            <a:spLocks noGrp="1" noRot="1" noChangeAspect="1"/>
          </p:cNvSpPr>
          <p:nvPr>
            <p:ph type="sldImg" idx="3"/>
          </p:nvPr>
        </p:nvSpPr>
        <p:spPr/>
      </p:sp>
      <p:sp>
        <p:nvSpPr>
          <p:cNvPr id="3" name="Text Placeholder 2">
            <a:extLst>
              <a:ext uri="{FF2B5EF4-FFF2-40B4-BE49-F238E27FC236}">
                <a16:creationId xmlns:a16="http://schemas.microsoft.com/office/drawing/2014/main" id="{57931A7E-9BD7-160E-DB01-941FEC2A080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5168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834A-53D5-4A27-1348-D10447593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582FA-1301-C346-914A-2E890888167B}"/>
              </a:ext>
            </a:extLst>
          </p:cNvPr>
          <p:cNvSpPr>
            <a:spLocks noGrp="1" noRot="1" noChangeAspect="1"/>
          </p:cNvSpPr>
          <p:nvPr>
            <p:ph type="sldImg" idx="3"/>
          </p:nvPr>
        </p:nvSpPr>
        <p:spPr/>
      </p:sp>
      <p:sp>
        <p:nvSpPr>
          <p:cNvPr id="3" name="Text Placeholder 2">
            <a:extLst>
              <a:ext uri="{FF2B5EF4-FFF2-40B4-BE49-F238E27FC236}">
                <a16:creationId xmlns:a16="http://schemas.microsoft.com/office/drawing/2014/main" id="{6C5BDD35-222F-9705-1474-5EA512E9C8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70089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7358-E86D-296D-D261-727DCAB87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6990C-B1E2-576C-B315-B86D8109797A}"/>
              </a:ext>
            </a:extLst>
          </p:cNvPr>
          <p:cNvSpPr>
            <a:spLocks noGrp="1" noRot="1" noChangeAspect="1"/>
          </p:cNvSpPr>
          <p:nvPr>
            <p:ph type="sldImg" idx="3"/>
          </p:nvPr>
        </p:nvSpPr>
        <p:spPr/>
      </p:sp>
      <p:sp>
        <p:nvSpPr>
          <p:cNvPr id="3" name="Text Placeholder 2">
            <a:extLst>
              <a:ext uri="{FF2B5EF4-FFF2-40B4-BE49-F238E27FC236}">
                <a16:creationId xmlns:a16="http://schemas.microsoft.com/office/drawing/2014/main" id="{DCB9079A-6906-BBAE-E560-382A1B7A47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45543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8597993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jabeenashaik3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linkedin.com/in/varalakshmi-chimata/" TargetMode="External"/><Relationship Id="rId4" Type="http://schemas.openxmlformats.org/officeDocument/2006/relationships/hyperlink" Target="https://www.linkedin.com/in/kopuri-poojitha-13031638b/"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592" y="8467"/>
            <a:ext cx="12190815" cy="6694098"/>
          </a:xfrm>
          <a:prstGeom prst="rect">
            <a:avLst/>
          </a:prstGeom>
          <a:noFill/>
          <a:ln>
            <a:noFill/>
          </a:ln>
        </p:spPr>
      </p:pic>
      <p:sp>
        <p:nvSpPr>
          <p:cNvPr id="99" name="Google Shape;99;p1"/>
          <p:cNvSpPr txBox="1"/>
          <p:nvPr/>
        </p:nvSpPr>
        <p:spPr>
          <a:xfrm>
            <a:off x="2472904" y="3953359"/>
            <a:ext cx="7246189" cy="1938952"/>
          </a:xfrm>
          <a:prstGeom prst="rect">
            <a:avLst/>
          </a:prstGeom>
          <a:noFill/>
          <a:ln>
            <a:noFill/>
          </a:ln>
        </p:spPr>
        <p:txBody>
          <a:bodyPr spcFirstLastPara="1" wrap="square" lIns="91425" tIns="45700" rIns="91425" bIns="45700" anchor="t" anchorCtr="0">
            <a:spAutoFit/>
          </a:bodyPr>
          <a:lstStyle/>
          <a:p>
            <a:pPr lvl="0" algn="ctr">
              <a:buSzPts val="1800"/>
            </a:pPr>
            <a:r>
              <a:rPr lang="en-IN" sz="6000" b="1" dirty="0">
                <a:latin typeface="Times New Roman" panose="02020603050405020304" pitchFamily="18" charset="0"/>
                <a:cs typeface="Times New Roman" panose="02020603050405020304" pitchFamily="18" charset="0"/>
              </a:rPr>
              <a:t>Employee Management System</a:t>
            </a:r>
            <a:endParaRPr sz="60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1028789" y="1628527"/>
            <a:ext cx="11163211" cy="3600945"/>
          </a:xfrm>
          <a:prstGeom prst="rect">
            <a:avLst/>
          </a:prstGeom>
          <a:noFill/>
          <a:ln>
            <a:noFill/>
          </a:ln>
        </p:spPr>
        <p:txBody>
          <a:bodyPr spcFirstLastPara="1" wrap="square" lIns="91425" tIns="45700" rIns="91425" bIns="45700" anchor="t" anchorCtr="0">
            <a:spAutoFit/>
          </a:bodyPr>
          <a:lstStyle/>
          <a:p>
            <a:pPr lvl="0">
              <a:buClr>
                <a:schemeClr val="dk1"/>
              </a:buClr>
              <a:buSzPts val="2400"/>
            </a:pPr>
            <a:r>
              <a:rPr lang="en-IN" sz="20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Leader</a:t>
            </a:r>
            <a:r>
              <a:rPr lang="en-IN"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IN" sz="1800" b="1" i="0" u="none" strike="noStrike" cap="none"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1800" b="1"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S</a:t>
            </a: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haik </a:t>
            </a:r>
            <a:r>
              <a:rPr lang="en-US" sz="1800" b="1" dirty="0" err="1">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Jabeena</a:t>
            </a:r>
            <a:endPar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buClr>
                <a:schemeClr val="dk1"/>
              </a:buClr>
              <a:buSzPts val="2400"/>
            </a:pPr>
            <a:endParaRPr lang="en-IN" sz="1800" b="1"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fontAlgn="base"/>
            <a:r>
              <a:rPr lang="en-IN" sz="20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LinkedIn</a:t>
            </a:r>
            <a:r>
              <a:rPr lang="en-IN"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hlinkClick r:id="rId3"/>
              </a:rPr>
              <a:t> https://www.linkedin.com/in/jabeenashaik31/</a:t>
            </a:r>
            <a:endPar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fontAlgn="base"/>
            <a:endParaRPr lang="en-US"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buClr>
                <a:schemeClr val="dk1"/>
              </a:buClr>
              <a:buSzPts val="2400"/>
            </a:pPr>
            <a:r>
              <a:rPr lang="en-US" sz="20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Teammate 1 : </a:t>
            </a: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Kopuri </a:t>
            </a:r>
            <a:r>
              <a:rPr lang="en-US" sz="1800" b="1" dirty="0" err="1">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poojitha</a:t>
            </a:r>
            <a:endPar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buClr>
                <a:schemeClr val="dk1"/>
              </a:buClr>
              <a:buSzPts val="2400"/>
            </a:pPr>
            <a:endPar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buClr>
                <a:schemeClr val="dk1"/>
              </a:buClr>
              <a:buSzPts val="2400"/>
            </a:pPr>
            <a:r>
              <a:rPr lang="en-US" sz="2000" b="1" dirty="0" err="1">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Linkedln</a:t>
            </a:r>
            <a:r>
              <a:rPr lang="en-US" sz="20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20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hlinkClick r:id="rId4"/>
              </a:rPr>
              <a:t>https://www.linkedin.com/in/kopuri-poojitha-13031638b/</a:t>
            </a:r>
            <a:endPar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buClr>
                <a:schemeClr val="dk1"/>
              </a:buClr>
              <a:buSzPts val="2400"/>
            </a:pPr>
            <a:endParaRPr lang="en-US"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buClr>
                <a:schemeClr val="dk1"/>
              </a:buClr>
              <a:buSzPts val="2400"/>
            </a:pPr>
            <a:r>
              <a:rPr lang="en-US" sz="20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Teammate 2 : </a:t>
            </a:r>
            <a:r>
              <a:rPr lang="en-US" sz="1800" b="1" dirty="0" err="1">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Chimata</a:t>
            </a: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 Varalakshmi </a:t>
            </a:r>
            <a:endParaRPr lang="en-IN" sz="1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buClr>
                <a:schemeClr val="dk1"/>
              </a:buClr>
              <a:buSzPts val="2400"/>
            </a:pPr>
            <a:endParaRPr lang="en-US"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buClr>
                <a:schemeClr val="dk1"/>
              </a:buClr>
              <a:buSzPts val="2400"/>
            </a:pPr>
            <a:r>
              <a:rPr lang="en-US" sz="2000" b="1" dirty="0" err="1">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Linkedln</a:t>
            </a:r>
            <a:r>
              <a:rPr lang="en-US" sz="20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20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a:t>
            </a:r>
            <a:r>
              <a:rPr lang="en-US" sz="20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IN" sz="1800" b="1"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hlinkClick r:id="rId5"/>
              </a:rPr>
              <a:t>https://www.linkedin.com/in/varalakshmi-chimata/</a:t>
            </a:r>
            <a:endParaRPr lang="en-IN" sz="1800" b="1"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lvl="0">
              <a:buClr>
                <a:schemeClr val="dk1"/>
              </a:buClr>
              <a:buSzPts val="2400"/>
            </a:pPr>
            <a:endParaRPr lang="en-US" sz="1800" dirty="0">
              <a:solidFill>
                <a:schemeClr val="tx1"/>
              </a:solidFill>
              <a:latin typeface="Arial Rounded MT Bold" panose="020F0704030504030204" pitchFamily="34" charset="0"/>
              <a:ea typeface="Calibri" panose="020F0502020204030204"/>
              <a:cs typeface="Calibri" panose="020F0502020204030204"/>
              <a:sym typeface="Calibri" panose="020F0502020204030204"/>
            </a:endParaRPr>
          </a:p>
        </p:txBody>
      </p:sp>
      <p:sp>
        <p:nvSpPr>
          <p:cNvPr id="105" name="Google Shape;105;p3"/>
          <p:cNvSpPr txBox="1"/>
          <p:nvPr/>
        </p:nvSpPr>
        <p:spPr>
          <a:xfrm>
            <a:off x="427655" y="416554"/>
            <a:ext cx="11764345" cy="535491"/>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3600" b="1" dirty="0">
                <a:solidFill>
                  <a:srgbClr val="FF0000"/>
                </a:solidFill>
                <a:latin typeface="Times New Roman" panose="02020603050405020304" pitchFamily="18" charset="0"/>
                <a:ea typeface="Lato Black" panose="020F0502020204030203"/>
                <a:cs typeface="Times New Roman" panose="02020603050405020304" pitchFamily="18" charset="0"/>
                <a:sym typeface="Lato Black" panose="020F0502020204030203"/>
              </a:rPr>
              <a:t>                                      TEAM MEMBERS</a:t>
            </a:r>
            <a:r>
              <a:rPr lang="en-IN" sz="3600" b="1" i="0" u="none" strike="noStrike" cap="none" dirty="0">
                <a:solidFill>
                  <a:srgbClr val="FF0000"/>
                </a:solidFill>
                <a:latin typeface="Times New Roman" panose="02020603050405020304" pitchFamily="18" charset="0"/>
                <a:ea typeface="Lato Black" panose="020F0502020204030203"/>
                <a:cs typeface="Times New Roman" panose="02020603050405020304" pitchFamily="18" charset="0"/>
                <a:sym typeface="Lato Black" panose="020F0502020204030203"/>
              </a:rPr>
              <a:t> </a:t>
            </a:r>
            <a:endParaRPr sz="3600" b="1" i="0" u="none" strike="noStrike" cap="none"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panose="020F0502020204030204"/>
              <a:buNone/>
            </a:pPr>
            <a:r>
              <a:rPr lang="en-IN" sz="3600" b="1" dirty="0">
                <a:solidFill>
                  <a:srgbClr val="FF0000"/>
                </a:solidFill>
              </a:rPr>
              <a:t>AGENDA   </a:t>
            </a:r>
            <a:endParaRPr sz="3600"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p>
          <a:p>
            <a:pPr marL="25400" lvl="0" indent="0" algn="l" rtl="0">
              <a:lnSpc>
                <a:spcPct val="90000"/>
              </a:lnSpc>
              <a:spcBef>
                <a:spcPts val="1000"/>
              </a:spcBef>
              <a:spcAft>
                <a:spcPts val="0"/>
              </a:spcAft>
              <a:buSzPts val="2400"/>
              <a:buNone/>
            </a:pPr>
            <a:endParaRPr lang="en-IN" sz="2400" b="1" dirty="0"/>
          </a:p>
          <a:p>
            <a:pPr marL="457200" lvl="0" indent="-431800" algn="l" rtl="0">
              <a:lnSpc>
                <a:spcPct val="90000"/>
              </a:lnSpc>
              <a:spcBef>
                <a:spcPts val="1000"/>
              </a:spcBef>
              <a:spcAft>
                <a:spcPts val="0"/>
              </a:spcAft>
              <a:buSzPts val="2400"/>
              <a:buChar char="•"/>
            </a:pPr>
            <a:r>
              <a:rPr lang="en-IN" sz="2400" b="1" dirty="0"/>
              <a:t>ER Diagram and Schema Explanation</a:t>
            </a:r>
          </a:p>
          <a:p>
            <a:pPr marL="25400" lvl="0" indent="0" algn="l" rtl="0">
              <a:lnSpc>
                <a:spcPct val="90000"/>
              </a:lnSpc>
              <a:spcBef>
                <a:spcPts val="1000"/>
              </a:spcBef>
              <a:spcAft>
                <a:spcPts val="0"/>
              </a:spcAft>
              <a:buSzPts val="2400"/>
              <a:buNone/>
            </a:pPr>
            <a:endParaRPr sz="2400" b="1" dirty="0"/>
          </a:p>
          <a:p>
            <a:pPr marL="457200" lvl="0" indent="-431800" algn="l" rtl="0">
              <a:lnSpc>
                <a:spcPct val="90000"/>
              </a:lnSpc>
              <a:spcBef>
                <a:spcPts val="1000"/>
              </a:spcBef>
              <a:spcAft>
                <a:spcPts val="0"/>
              </a:spcAft>
              <a:buSzPts val="2400"/>
              <a:buChar char="•"/>
            </a:pPr>
            <a:r>
              <a:rPr lang="en-IN" sz="2400" b="1" dirty="0"/>
              <a:t>Key analysis questions </a:t>
            </a:r>
          </a:p>
          <a:p>
            <a:pPr marL="25400" lvl="0" indent="0" algn="l" rtl="0">
              <a:lnSpc>
                <a:spcPct val="90000"/>
              </a:lnSpc>
              <a:spcBef>
                <a:spcPts val="1000"/>
              </a:spcBef>
              <a:spcAft>
                <a:spcPts val="0"/>
              </a:spcAft>
              <a:buSzPts val="2400"/>
              <a:buNone/>
            </a:pPr>
            <a:endParaRPr sz="2400" dirty="0"/>
          </a:p>
          <a:p>
            <a:pPr marL="457200" lvl="0" indent="-431800" algn="l" rtl="0">
              <a:lnSpc>
                <a:spcPct val="90000"/>
              </a:lnSpc>
              <a:spcBef>
                <a:spcPts val="1000"/>
              </a:spcBef>
              <a:spcAft>
                <a:spcPts val="0"/>
              </a:spcAft>
              <a:buSzPts val="2400"/>
              <a:buChar char="•"/>
            </a:pPr>
            <a:r>
              <a:rPr lang="en-IN" sz="2400" b="1" dirty="0"/>
              <a:t>Conclusion </a:t>
            </a:r>
            <a:endParaRPr sz="2400" dirty="0"/>
          </a:p>
          <a:p>
            <a:pPr marL="25400" lvl="0" indent="0" algn="l" rtl="0">
              <a:lnSpc>
                <a:spcPct val="90000"/>
              </a:lnSpc>
              <a:spcBef>
                <a:spcPts val="1000"/>
              </a:spcBef>
              <a:spcAft>
                <a:spcPts val="0"/>
              </a:spcAft>
              <a:buSzPts val="2400"/>
              <a:buNone/>
            </a:pPr>
            <a:endParaRPr sz="2400" dirty="0"/>
          </a:p>
          <a:p>
            <a:pPr marL="457200" lvl="0" indent="-431800" algn="l" rtl="0">
              <a:lnSpc>
                <a:spcPct val="90000"/>
              </a:lnSpc>
              <a:spcBef>
                <a:spcPts val="1000"/>
              </a:spcBef>
              <a:spcAft>
                <a:spcPts val="0"/>
              </a:spcAft>
              <a:buSzPts val="2400"/>
              <a:buChar char="•"/>
            </a:pPr>
            <a:r>
              <a:rPr lang="en-IN" sz="2400" b="1" dirty="0"/>
              <a:t>Experience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Objective of the Project</a:t>
            </a:r>
          </a:p>
        </p:txBody>
      </p:sp>
      <p:sp>
        <p:nvSpPr>
          <p:cNvPr id="3" name="Text Placeholder 2"/>
          <p:cNvSpPr>
            <a:spLocks noGrp="1"/>
          </p:cNvSpPr>
          <p:nvPr>
            <p:ph type="body" idx="1"/>
          </p:nvPr>
        </p:nvSpPr>
        <p:spPr>
          <a:xfrm>
            <a:off x="838200" y="1354667"/>
            <a:ext cx="10515600" cy="5012265"/>
          </a:xfrm>
        </p:spPr>
        <p:txBody>
          <a:bodyPr>
            <a:noAutofit/>
          </a:bodyPr>
          <a:lstStyle/>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design and develop an Employee Management System using SQL. </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efficiently store and manage employee information, job roles, departments, qualifications, leave records, and payroll details. </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maintain data accuracy and consistency using primary keys, foreign keys, and relational database concepts. </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simplify HR operations by providing easy access to employee data and generating meaningful reports. </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perform data analysis on employee insights, salary distribution, department performance, leave patterns, and payroll management for better decision-making.</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improve employee record management by reducing data redundancy and ensuring secure data storage. </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To support quick information retrieval and efficient decision-making through structured SQL queries and reports.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 y="1"/>
            <a:ext cx="10515600" cy="1426528"/>
          </a:xfrm>
        </p:spPr>
        <p:txBody>
          <a:bodyPr>
            <a:normAutofit/>
          </a:bodyPr>
          <a:lstStyle/>
          <a:p>
            <a:r>
              <a:rPr lang="en-US" sz="3600" dirty="0">
                <a:solidFill>
                  <a:srgbClr val="FF0000"/>
                </a:solidFill>
                <a:latin typeface="Times New Roman" panose="02020603050405020304" pitchFamily="18" charset="0"/>
                <a:cs typeface="Times New Roman" panose="02020603050405020304" pitchFamily="18" charset="0"/>
              </a:rPr>
              <a:t>  INTRODUCTION</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47320" y="943898"/>
            <a:ext cx="11189374" cy="1882276"/>
          </a:xfrm>
        </p:spPr>
        <p:txBody>
          <a:bodyPr>
            <a:normAutofit/>
          </a:bodyPr>
          <a:lstStyle/>
          <a:p>
            <a:r>
              <a:rPr lang="en-IN" sz="1800" b="1" dirty="0">
                <a:latin typeface="Times New Roman" panose="02020603050405020304" pitchFamily="18" charset="0"/>
                <a:cs typeface="Times New Roman" panose="02020603050405020304" pitchFamily="18" charset="0"/>
              </a:rPr>
              <a:t>The project </a:t>
            </a:r>
            <a:r>
              <a:rPr lang="en-IN" sz="1800" b="1" dirty="0" err="1">
                <a:latin typeface="Times New Roman" panose="02020603050405020304" pitchFamily="18" charset="0"/>
                <a:cs typeface="Times New Roman" panose="02020603050405020304" pitchFamily="18" charset="0"/>
              </a:rPr>
              <a:t>analyzes</a:t>
            </a:r>
            <a:r>
              <a:rPr lang="en-IN" sz="1800" b="1" dirty="0">
                <a:latin typeface="Times New Roman" panose="02020603050405020304" pitchFamily="18" charset="0"/>
                <a:cs typeface="Times New Roman" panose="02020603050405020304" pitchFamily="18" charset="0"/>
              </a:rPr>
              <a:t> and manages an organization's employee data to improve HR operations, payroll processing, leave management, and employee performance tracking. The dataset consists of six interrelated tables that store employee, department, qualification, salary, leave, and payroll information.</a:t>
            </a:r>
            <a:endParaRPr lang="en-US" sz="1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050136A-F4AD-D513-4CA3-9240132954E6}"/>
              </a:ext>
            </a:extLst>
          </p:cNvPr>
          <p:cNvPicPr>
            <a:picLocks noChangeAspect="1"/>
          </p:cNvPicPr>
          <p:nvPr/>
        </p:nvPicPr>
        <p:blipFill>
          <a:blip r:embed="rId2"/>
          <a:stretch>
            <a:fillRect/>
          </a:stretch>
        </p:blipFill>
        <p:spPr>
          <a:xfrm>
            <a:off x="855306" y="2183814"/>
            <a:ext cx="10738053" cy="39025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988"/>
            <a:ext cx="10515600" cy="1150374"/>
          </a:xfrm>
        </p:spPr>
        <p:txBody>
          <a:bodyPr>
            <a:normAutofit/>
          </a:bodyPr>
          <a:lstStyle/>
          <a:p>
            <a:r>
              <a:rPr lang="en-US" altLang="en-IN" sz="3600" b="1" dirty="0">
                <a:solidFill>
                  <a:srgbClr val="FF0000"/>
                </a:solidFill>
                <a:latin typeface="Arial Rounded MT Bold" panose="020F0704030504030204" pitchFamily="34" charset="0"/>
              </a:rPr>
              <a:t>                                </a:t>
            </a:r>
            <a:r>
              <a:rPr lang="en-IN" sz="3600" b="1" dirty="0">
                <a:solidFill>
                  <a:srgbClr val="FF0000"/>
                </a:solidFill>
                <a:latin typeface="Arial Rounded MT Bold" panose="020F0704030504030204" pitchFamily="34" charset="0"/>
              </a:rPr>
              <a:t>ER Diagr</a:t>
            </a:r>
            <a:r>
              <a:rPr lang="en-US" altLang="en-IN" sz="3600" b="1" dirty="0">
                <a:solidFill>
                  <a:srgbClr val="FF0000"/>
                </a:solidFill>
                <a:latin typeface="Arial Rounded MT Bold" panose="020F0704030504030204" pitchFamily="34" charset="0"/>
              </a:rPr>
              <a:t>am</a:t>
            </a:r>
          </a:p>
        </p:txBody>
      </p:sp>
      <p:pic>
        <p:nvPicPr>
          <p:cNvPr id="5" name="Picture 4">
            <a:extLst>
              <a:ext uri="{FF2B5EF4-FFF2-40B4-BE49-F238E27FC236}">
                <a16:creationId xmlns:a16="http://schemas.microsoft.com/office/drawing/2014/main" id="{A685CA6C-71BE-D365-9FBF-5BA8574D8D37}"/>
              </a:ext>
            </a:extLst>
          </p:cNvPr>
          <p:cNvPicPr>
            <a:picLocks noChangeAspect="1"/>
          </p:cNvPicPr>
          <p:nvPr/>
        </p:nvPicPr>
        <p:blipFill>
          <a:blip r:embed="rId3"/>
          <a:stretch>
            <a:fillRect/>
          </a:stretch>
        </p:blipFill>
        <p:spPr>
          <a:xfrm>
            <a:off x="727587" y="1101213"/>
            <a:ext cx="10736826" cy="5161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5CD6A-8C82-3126-DFEF-BDB31C79EE83}"/>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F7606AC7-F7C0-4320-58DB-1F96A2042182}"/>
              </a:ext>
            </a:extLst>
          </p:cNvPr>
          <p:cNvSpPr>
            <a:spLocks noGrp="1"/>
          </p:cNvSpPr>
          <p:nvPr>
            <p:ph type="body" idx="1"/>
          </p:nvPr>
        </p:nvSpPr>
        <p:spPr>
          <a:xfrm>
            <a:off x="383458" y="245806"/>
            <a:ext cx="11611897" cy="5919020"/>
          </a:xfrm>
        </p:spPr>
        <p:txBody>
          <a:bodyPr>
            <a:normAutofit lnSpcReduction="10000"/>
          </a:bodyPr>
          <a:lstStyle/>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1.Job Department → Employee</a:t>
            </a: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Relationship: </a:t>
            </a:r>
            <a:r>
              <a:rPr lang="en-IN" sz="1800" dirty="0">
                <a:latin typeface="Times New Roman" panose="02020603050405020304" pitchFamily="18" charset="0"/>
                <a:cs typeface="Times New Roman" panose="02020603050405020304" pitchFamily="18" charset="0"/>
              </a:rPr>
              <a:t>One-to-Many (1 : M)department.</a:t>
            </a:r>
            <a:endParaRPr lang="en-IN" sz="1800" b="1" dirty="0">
              <a:latin typeface="Times New Roman" panose="02020603050405020304" pitchFamily="18" charset="0"/>
              <a:cs typeface="Times New Roman" panose="02020603050405020304" pitchFamily="18" charset="0"/>
            </a:endParaRP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Explanation: </a:t>
            </a:r>
          </a:p>
          <a:p>
            <a:pPr marL="114300" indent="0">
              <a:lnSpc>
                <a:spcPct val="100000"/>
              </a:lnSpc>
              <a:buNone/>
            </a:pPr>
            <a:r>
              <a:rPr lang="en-IN" sz="1800" dirty="0">
                <a:latin typeface="Times New Roman" panose="02020603050405020304" pitchFamily="18" charset="0"/>
                <a:cs typeface="Times New Roman" panose="02020603050405020304" pitchFamily="18" charset="0"/>
              </a:rPr>
              <a:t>One department can have many employees, </a:t>
            </a:r>
          </a:p>
          <a:p>
            <a:pPr marL="114300" indent="0">
              <a:lnSpc>
                <a:spcPct val="100000"/>
              </a:lnSpc>
              <a:buNone/>
            </a:pPr>
            <a:r>
              <a:rPr lang="en-IN" sz="1800" dirty="0">
                <a:latin typeface="Times New Roman" panose="02020603050405020304" pitchFamily="18" charset="0"/>
                <a:cs typeface="Times New Roman" panose="02020603050405020304" pitchFamily="18" charset="0"/>
              </a:rPr>
              <a:t>but each employee belongs to only one             </a:t>
            </a: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Employee.Job_id</a:t>
            </a:r>
            <a:r>
              <a:rPr lang="en-IN" sz="1800" dirty="0">
                <a:latin typeface="Times New Roman" panose="02020603050405020304" pitchFamily="18" charset="0"/>
                <a:cs typeface="Times New Roman" panose="02020603050405020304" pitchFamily="18" charset="0"/>
              </a:rPr>
              <a:t> → Job </a:t>
            </a:r>
            <a:r>
              <a:rPr lang="en-IN" sz="1800" dirty="0" err="1">
                <a:latin typeface="Times New Roman" panose="02020603050405020304" pitchFamily="18" charset="0"/>
                <a:cs typeface="Times New Roman" panose="02020603050405020304" pitchFamily="18" charset="0"/>
              </a:rPr>
              <a:t>Department.Job_id</a:t>
            </a:r>
            <a:endParaRPr lang="en-IN" sz="1800" dirty="0">
              <a:latin typeface="Times New Roman" panose="02020603050405020304" pitchFamily="18" charset="0"/>
              <a:cs typeface="Times New Roman" panose="02020603050405020304" pitchFamily="18" charset="0"/>
            </a:endParaRPr>
          </a:p>
          <a:p>
            <a:pPr marL="114300" indent="0">
              <a:buNone/>
            </a:pPr>
            <a:endParaRPr lang="en-US" sz="1900" dirty="0">
              <a:latin typeface="Times New Roman" panose="02020603050405020304" pitchFamily="18" charset="0"/>
              <a:cs typeface="Times New Roman" panose="02020603050405020304" pitchFamily="18" charset="0"/>
            </a:endParaRP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2. Job Department → Salary Bonus</a:t>
            </a: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20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lnSpc>
                <a:spcPct val="100000"/>
              </a:lnSpc>
              <a:buNone/>
            </a:pPr>
            <a:r>
              <a:rPr lang="en-IN" sz="1800" dirty="0">
                <a:latin typeface="Times New Roman" panose="02020603050405020304" pitchFamily="18" charset="0"/>
                <a:cs typeface="Times New Roman" panose="02020603050405020304" pitchFamily="18" charset="0"/>
              </a:rPr>
              <a:t>One department can have many salary records, </a:t>
            </a:r>
          </a:p>
          <a:p>
            <a:pPr marL="114300" indent="0">
              <a:lnSpc>
                <a:spcPct val="100000"/>
              </a:lnSpc>
              <a:buNone/>
            </a:pPr>
            <a:r>
              <a:rPr lang="en-IN" sz="1800" dirty="0">
                <a:latin typeface="Times New Roman" panose="02020603050405020304" pitchFamily="18" charset="0"/>
                <a:cs typeface="Times New Roman" panose="02020603050405020304" pitchFamily="18" charset="0"/>
              </a:rPr>
              <a:t>but each salary record belongs to only one department.</a:t>
            </a:r>
          </a:p>
          <a:p>
            <a:pPr marL="114300" indent="0">
              <a:lnSpc>
                <a:spcPct val="100000"/>
              </a:lnSpc>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SalaryBonus.Job_ID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JobDepartment.Job_ID</a:t>
            </a:r>
            <a:endParaRPr lang="en-IN" sz="1800" dirty="0">
              <a:latin typeface="Times New Roman" panose="02020603050405020304" pitchFamily="18" charset="0"/>
              <a:cs typeface="Times New Roman" panose="02020603050405020304" pitchFamily="18" charset="0"/>
            </a:endParaRPr>
          </a:p>
          <a:p>
            <a:pPr marL="114300" indent="0">
              <a:buNone/>
            </a:pPr>
            <a:endParaRPr lang="en-US" sz="1700" b="1"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1577798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25310-7776-C5FD-5614-0D42FCFB064B}"/>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071BD739-8662-2863-D276-E461574DBA4A}"/>
              </a:ext>
            </a:extLst>
          </p:cNvPr>
          <p:cNvSpPr>
            <a:spLocks noGrp="1"/>
          </p:cNvSpPr>
          <p:nvPr>
            <p:ph type="body" idx="1"/>
          </p:nvPr>
        </p:nvSpPr>
        <p:spPr>
          <a:xfrm>
            <a:off x="383458" y="245806"/>
            <a:ext cx="11611897" cy="5919020"/>
          </a:xfrm>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3. Employee → Qualification</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20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buNone/>
            </a:pPr>
            <a:r>
              <a:rPr lang="en-IN" sz="1800" dirty="0">
                <a:latin typeface="Times New Roman" panose="02020603050405020304" pitchFamily="18" charset="0"/>
                <a:cs typeface="Times New Roman" panose="02020603050405020304" pitchFamily="18" charset="0"/>
              </a:rPr>
              <a:t>One employee can have multiple qualification records, </a:t>
            </a:r>
          </a:p>
          <a:p>
            <a:pPr marL="114300" indent="0">
              <a:buNone/>
            </a:pPr>
            <a:r>
              <a:rPr lang="en-IN" sz="1800" dirty="0">
                <a:latin typeface="Times New Roman" panose="02020603050405020304" pitchFamily="18" charset="0"/>
                <a:cs typeface="Times New Roman" panose="02020603050405020304" pitchFamily="18" charset="0"/>
              </a:rPr>
              <a:t>but each qualification record belongs to only one employee.</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Qualification.Emp_ID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Employee.Emp_ID</a:t>
            </a:r>
            <a:endParaRPr lang="en-IN" sz="1800" dirty="0">
              <a:latin typeface="Times New Roman" panose="02020603050405020304" pitchFamily="18" charset="0"/>
              <a:cs typeface="Times New Roman" panose="02020603050405020304" pitchFamily="18" charset="0"/>
            </a:endParaRPr>
          </a:p>
          <a:p>
            <a:pPr marL="114300" indent="0">
              <a:lnSpc>
                <a:spcPct val="100000"/>
              </a:lnSpc>
              <a:buNone/>
            </a:pPr>
            <a:endParaRPr lang="en-US" sz="1900" dirty="0">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4. Employee → Leaves</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1800" b="1" dirty="0">
                <a:solidFill>
                  <a:srgbClr val="FF0000"/>
                </a:solidFill>
                <a:latin typeface="Times New Roman" panose="02020603050405020304" pitchFamily="18" charset="0"/>
                <a:cs typeface="Times New Roman" panose="02020603050405020304" pitchFamily="18" charset="0"/>
              </a:rPr>
              <a:t>:</a:t>
            </a:r>
            <a:r>
              <a:rPr lang="en-IN" sz="18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buNone/>
            </a:pPr>
            <a:r>
              <a:rPr lang="en-IN" sz="1800" dirty="0">
                <a:latin typeface="Times New Roman" panose="02020603050405020304" pitchFamily="18" charset="0"/>
                <a:cs typeface="Times New Roman" panose="02020603050405020304" pitchFamily="18" charset="0"/>
              </a:rPr>
              <a:t>One employee can apply for many leaves, </a:t>
            </a:r>
          </a:p>
          <a:p>
            <a:pPr marL="114300" indent="0">
              <a:buNone/>
            </a:pPr>
            <a:r>
              <a:rPr lang="en-IN" sz="1800" dirty="0">
                <a:latin typeface="Times New Roman" panose="02020603050405020304" pitchFamily="18" charset="0"/>
                <a:cs typeface="Times New Roman" panose="02020603050405020304" pitchFamily="18" charset="0"/>
              </a:rPr>
              <a:t>but each leave record belongs to only one employee.</a:t>
            </a:r>
          </a:p>
          <a:p>
            <a:pPr marL="114300" indent="0">
              <a:buNone/>
            </a:pPr>
            <a:r>
              <a:rPr lang="en-IN" sz="1800" b="1" dirty="0">
                <a:solidFill>
                  <a:srgbClr val="FF0000"/>
                </a:solidFill>
                <a:latin typeface="Times New Roman" panose="02020603050405020304" pitchFamily="18" charset="0"/>
                <a:cs typeface="Times New Roman" panose="02020603050405020304" pitchFamily="18" charset="0"/>
              </a:rPr>
              <a:t>Foreign </a:t>
            </a:r>
            <a:r>
              <a:rPr lang="en-IN" sz="2000" b="1" dirty="0">
                <a:solidFill>
                  <a:srgbClr val="FF0000"/>
                </a:solidFill>
                <a:latin typeface="Times New Roman" panose="02020603050405020304" pitchFamily="18" charset="0"/>
                <a:cs typeface="Times New Roman" panose="02020603050405020304" pitchFamily="18" charset="0"/>
              </a:rPr>
              <a:t>Key</a:t>
            </a:r>
            <a:r>
              <a:rPr lang="en-IN" sz="1800" b="1" dirty="0">
                <a:solidFill>
                  <a:srgbClr val="FF0000"/>
                </a:solidFill>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Leaves.Emp_ID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Employee.Emp_ID</a:t>
            </a:r>
            <a:endParaRPr lang="en-IN" sz="1800" dirty="0">
              <a:latin typeface="Times New Roman" panose="02020603050405020304" pitchFamily="18" charset="0"/>
              <a:cs typeface="Times New Roman" panose="02020603050405020304" pitchFamily="18" charset="0"/>
            </a:endParaRPr>
          </a:p>
          <a:p>
            <a:pPr marL="114300" indent="0">
              <a:lnSpc>
                <a:spcPct val="100000"/>
              </a:lnSpc>
              <a:buNone/>
            </a:pPr>
            <a:endParaRPr lang="en-US" sz="1700" b="1"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3614797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77093-0024-4B44-72E7-24771D0C3C93}"/>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280D9CC5-0CC6-222C-4A15-F4CA18C3C3B0}"/>
              </a:ext>
            </a:extLst>
          </p:cNvPr>
          <p:cNvSpPr>
            <a:spLocks noGrp="1"/>
          </p:cNvSpPr>
          <p:nvPr>
            <p:ph type="body" idx="1"/>
          </p:nvPr>
        </p:nvSpPr>
        <p:spPr>
          <a:xfrm>
            <a:off x="383458" y="245806"/>
            <a:ext cx="11611897" cy="5919020"/>
          </a:xfrm>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5. Employee → Payroll</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20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buNone/>
            </a:pPr>
            <a:r>
              <a:rPr lang="en-IN" sz="1800" dirty="0">
                <a:latin typeface="Times New Roman" panose="02020603050405020304" pitchFamily="18" charset="0"/>
                <a:cs typeface="Times New Roman" panose="02020603050405020304" pitchFamily="18" charset="0"/>
              </a:rPr>
              <a:t>One employee can have multiple payroll records,</a:t>
            </a:r>
          </a:p>
          <a:p>
            <a:pPr marL="114300" indent="0">
              <a:buNone/>
            </a:pPr>
            <a:r>
              <a:rPr lang="en-IN" sz="1800" dirty="0">
                <a:latin typeface="Times New Roman" panose="02020603050405020304" pitchFamily="18" charset="0"/>
                <a:cs typeface="Times New Roman" panose="02020603050405020304" pitchFamily="18" charset="0"/>
              </a:rPr>
              <a:t>but each payroll record belongs to only one employee.</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Payroll.Emp_ID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Employee.Emp_ID</a:t>
            </a:r>
            <a:endParaRPr lang="en-IN" sz="1800" dirty="0">
              <a:latin typeface="Times New Roman" panose="02020603050405020304" pitchFamily="18" charset="0"/>
              <a:cs typeface="Times New Roman" panose="02020603050405020304" pitchFamily="18" charset="0"/>
            </a:endParaRPr>
          </a:p>
          <a:p>
            <a:pPr marL="114300" indent="0">
              <a:buNone/>
            </a:pPr>
            <a:endParaRPr lang="en-US" sz="1900" dirty="0">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6. </a:t>
            </a:r>
            <a:r>
              <a:rPr lang="en-IN" sz="2000" b="1" dirty="0" err="1">
                <a:solidFill>
                  <a:srgbClr val="FF0000"/>
                </a:solidFill>
                <a:latin typeface="Times New Roman" panose="02020603050405020304" pitchFamily="18" charset="0"/>
                <a:cs typeface="Times New Roman" panose="02020603050405020304" pitchFamily="18" charset="0"/>
              </a:rPr>
              <a:t>JobDepartment</a:t>
            </a:r>
            <a:r>
              <a:rPr lang="en-IN" sz="2000" b="1" dirty="0">
                <a:solidFill>
                  <a:srgbClr val="FF0000"/>
                </a:solidFill>
                <a:latin typeface="Times New Roman" panose="02020603050405020304" pitchFamily="18" charset="0"/>
                <a:cs typeface="Times New Roman" panose="02020603050405020304" pitchFamily="18" charset="0"/>
              </a:rPr>
              <a:t> → Payroll</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20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buNone/>
            </a:pPr>
            <a:r>
              <a:rPr lang="en-IN" sz="1800" dirty="0">
                <a:latin typeface="Times New Roman" panose="02020603050405020304" pitchFamily="18" charset="0"/>
                <a:cs typeface="Times New Roman" panose="02020603050405020304" pitchFamily="18" charset="0"/>
              </a:rPr>
              <a:t>One department can have many payroll records, </a:t>
            </a:r>
          </a:p>
          <a:p>
            <a:pPr marL="114300" indent="0">
              <a:buNone/>
            </a:pPr>
            <a:r>
              <a:rPr lang="en-IN" sz="1800" dirty="0">
                <a:latin typeface="Times New Roman" panose="02020603050405020304" pitchFamily="18" charset="0"/>
                <a:cs typeface="Times New Roman" panose="02020603050405020304" pitchFamily="18" charset="0"/>
              </a:rPr>
              <a:t>but each payroll record belongs to only one department.</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Payroll.Job_ID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JobDepartment.Job_ID</a:t>
            </a:r>
            <a:endParaRPr lang="en-IN" sz="1800" dirty="0">
              <a:latin typeface="Times New Roman" panose="02020603050405020304" pitchFamily="18" charset="0"/>
              <a:cs typeface="Times New Roman" panose="02020603050405020304" pitchFamily="18" charset="0"/>
            </a:endParaRPr>
          </a:p>
          <a:p>
            <a:pPr marL="114300" indent="0">
              <a:buNone/>
            </a:pPr>
            <a:endParaRPr lang="en-US" sz="1700" b="1"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695245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FD187-FF15-681A-E759-0123CB45516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FCEA93E3-C271-8F7C-7698-440A74F9FCF8}"/>
              </a:ext>
            </a:extLst>
          </p:cNvPr>
          <p:cNvSpPr>
            <a:spLocks noGrp="1"/>
          </p:cNvSpPr>
          <p:nvPr>
            <p:ph type="body" idx="1"/>
          </p:nvPr>
        </p:nvSpPr>
        <p:spPr>
          <a:xfrm>
            <a:off x="383458" y="245806"/>
            <a:ext cx="11611897" cy="5919020"/>
          </a:xfrm>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7. </a:t>
            </a:r>
            <a:r>
              <a:rPr lang="en-IN" sz="2000" b="1" dirty="0" err="1">
                <a:solidFill>
                  <a:srgbClr val="FF0000"/>
                </a:solidFill>
                <a:latin typeface="Times New Roman" panose="02020603050405020304" pitchFamily="18" charset="0"/>
                <a:cs typeface="Times New Roman" panose="02020603050405020304" pitchFamily="18" charset="0"/>
              </a:rPr>
              <a:t>SalaryBonus</a:t>
            </a:r>
            <a:r>
              <a:rPr lang="en-IN" sz="2000" b="1" dirty="0">
                <a:solidFill>
                  <a:srgbClr val="FF0000"/>
                </a:solidFill>
                <a:latin typeface="Times New Roman" panose="02020603050405020304" pitchFamily="18" charset="0"/>
                <a:cs typeface="Times New Roman" panose="02020603050405020304" pitchFamily="18" charset="0"/>
              </a:rPr>
              <a:t> → Payroll</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20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buNone/>
            </a:pPr>
            <a:r>
              <a:rPr lang="en-IN" sz="1800" dirty="0">
                <a:latin typeface="Times New Roman" panose="02020603050405020304" pitchFamily="18" charset="0"/>
                <a:cs typeface="Times New Roman" panose="02020603050405020304" pitchFamily="18" charset="0"/>
              </a:rPr>
              <a:t>One salary record can be used in many payroll records, </a:t>
            </a:r>
          </a:p>
          <a:p>
            <a:pPr marL="114300" indent="0">
              <a:buNone/>
            </a:pPr>
            <a:r>
              <a:rPr lang="en-IN" sz="1800" dirty="0">
                <a:latin typeface="Times New Roman" panose="02020603050405020304" pitchFamily="18" charset="0"/>
                <a:cs typeface="Times New Roman" panose="02020603050405020304" pitchFamily="18" charset="0"/>
              </a:rPr>
              <a:t>but each payroll record refers to only one salary record.</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Payroll.Salary_ID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SalaryBonus.Salary_ID</a:t>
            </a:r>
            <a:endParaRPr lang="en-IN" sz="1800" dirty="0">
              <a:latin typeface="Times New Roman" panose="02020603050405020304" pitchFamily="18" charset="0"/>
              <a:cs typeface="Times New Roman" panose="02020603050405020304" pitchFamily="18" charset="0"/>
            </a:endParaRPr>
          </a:p>
          <a:p>
            <a:pPr marL="114300" indent="0">
              <a:buNone/>
            </a:pPr>
            <a:endParaRPr lang="en-US" sz="1900" dirty="0">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8. Leaves → Payroll</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Relationship:</a:t>
            </a:r>
            <a:r>
              <a:rPr lang="en-IN" sz="2000" dirty="0">
                <a:solidFill>
                  <a:srgbClr val="FF000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One-to-Many (1 : M)</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Explanation:</a:t>
            </a:r>
            <a:r>
              <a:rPr lang="en-IN" sz="2000" dirty="0">
                <a:solidFill>
                  <a:srgbClr val="FF0000"/>
                </a:solidFill>
                <a:latin typeface="Times New Roman" panose="02020603050405020304" pitchFamily="18" charset="0"/>
                <a:cs typeface="Times New Roman" panose="02020603050405020304" pitchFamily="18" charset="0"/>
              </a:rPr>
              <a:t> </a:t>
            </a:r>
          </a:p>
          <a:p>
            <a:pPr marL="114300" indent="0">
              <a:buNone/>
            </a:pPr>
            <a:r>
              <a:rPr lang="en-IN" sz="1800" dirty="0">
                <a:latin typeface="Times New Roman" panose="02020603050405020304" pitchFamily="18" charset="0"/>
                <a:cs typeface="Times New Roman" panose="02020603050405020304" pitchFamily="18" charset="0"/>
              </a:rPr>
              <a:t>One leave record can be linked to payroll information, </a:t>
            </a:r>
          </a:p>
          <a:p>
            <a:pPr marL="114300" indent="0">
              <a:buNone/>
            </a:pPr>
            <a:r>
              <a:rPr lang="en-IN" sz="1800" dirty="0">
                <a:latin typeface="Times New Roman" panose="02020603050405020304" pitchFamily="18" charset="0"/>
                <a:cs typeface="Times New Roman" panose="02020603050405020304" pitchFamily="18" charset="0"/>
              </a:rPr>
              <a:t>but each payroll record refers to only one leave record.</a:t>
            </a: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Foreign Key:</a:t>
            </a:r>
            <a:br>
              <a:rPr lang="en-IN" sz="1800" dirty="0">
                <a:latin typeface="Times New Roman" panose="02020603050405020304" pitchFamily="18" charset="0"/>
                <a:cs typeface="Times New Roman" panose="02020603050405020304" pitchFamily="18" charset="0"/>
              </a:rPr>
            </a:br>
            <a:r>
              <a:rPr lang="en-IN" sz="1800" dirty="0" err="1">
                <a:latin typeface="Times New Roman" panose="02020603050405020304" pitchFamily="18" charset="0"/>
                <a:cs typeface="Times New Roman" panose="02020603050405020304" pitchFamily="18" charset="0"/>
              </a:rPr>
              <a:t>Payroll.Leave_ID</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Leaves.Leave_ID</a:t>
            </a:r>
            <a:endParaRPr lang="en-IN" sz="1800" dirty="0">
              <a:latin typeface="Times New Roman" panose="02020603050405020304" pitchFamily="18" charset="0"/>
              <a:cs typeface="Times New Roman" panose="02020603050405020304" pitchFamily="18" charset="0"/>
            </a:endParaRPr>
          </a:p>
          <a:p>
            <a:pPr marL="114300" indent="0">
              <a:buNone/>
            </a:pPr>
            <a:endParaRPr lang="en-US" sz="1700" b="1"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936245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r>
              <a:rPr lang="en-IN" sz="3200" b="1" dirty="0">
                <a:latin typeface="Times New Roman" panose="02020603050405020304" pitchFamily="18" charset="0"/>
                <a:cs typeface="Times New Roman" panose="02020603050405020304" pitchFamily="18" charset="0"/>
              </a:rPr>
              <a:t>                                  </a:t>
            </a:r>
            <a:r>
              <a:rPr lang="en-IN" sz="4000" b="1" dirty="0">
                <a:solidFill>
                  <a:srgbClr val="FF0000"/>
                </a:solidFill>
                <a:latin typeface="Times New Roman" panose="02020603050405020304" pitchFamily="18" charset="0"/>
                <a:cs typeface="Times New Roman" panose="02020603050405020304" pitchFamily="18" charset="0"/>
              </a:rPr>
              <a:t>Analysis Questions</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1. EMPLOYEE INSIGHTS</a:t>
            </a:r>
            <a:br>
              <a:rPr lang="en-IN" sz="2200" b="1" dirty="0">
                <a:latin typeface="Times New Roman" panose="02020603050405020304" pitchFamily="18" charset="0"/>
                <a:cs typeface="Times New Roman" panose="02020603050405020304" pitchFamily="18" charset="0"/>
              </a:rPr>
            </a:br>
            <a:br>
              <a:rPr lang="en-IN" sz="22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How </a:t>
            </a:r>
            <a:r>
              <a:rPr lang="en-IN" sz="2200" b="1" dirty="0">
                <a:latin typeface="Times New Roman" panose="02020603050405020304" pitchFamily="18" charset="0"/>
                <a:cs typeface="Times New Roman" panose="02020603050405020304" pitchFamily="18" charset="0"/>
              </a:rPr>
              <a:t>many unique employees are currently in the system?</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endParaRPr lang="en-IN" sz="1800" b="1" dirty="0">
              <a:solidFill>
                <a:srgbClr val="FF0000"/>
              </a:solidFill>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a:t>
            </a:r>
          </a:p>
          <a:p>
            <a:pPr marL="114300" indent="0">
              <a:buNone/>
            </a:pPr>
            <a:endParaRPr lang="en-IN" sz="1800"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IN" sz="1800" dirty="0">
                <a:latin typeface="Times New Roman" panose="02020603050405020304" pitchFamily="18" charset="0"/>
                <a:cs typeface="Times New Roman" panose="02020603050405020304" pitchFamily="18" charset="0"/>
              </a:rPr>
              <a:t>Shows the total number of employees in the company. </a:t>
            </a:r>
          </a:p>
          <a:p>
            <a:r>
              <a:rPr lang="en-IN" sz="1800" dirty="0">
                <a:latin typeface="Times New Roman" panose="02020603050405020304" pitchFamily="18" charset="0"/>
                <a:cs typeface="Times New Roman" panose="02020603050405020304" pitchFamily="18" charset="0"/>
              </a:rPr>
              <a:t>Helps understand the overall workforce size.</a:t>
            </a:r>
            <a:endParaRPr lang="en-IN" sz="1800" b="1" dirty="0">
              <a:latin typeface="Times New Roman" panose="02020603050405020304" pitchFamily="18" charset="0"/>
              <a:cs typeface="Times New Roman" panose="02020603050405020304" pitchFamily="18" charset="0"/>
            </a:endParaRPr>
          </a:p>
          <a:p>
            <a:pPr marL="114300" indent="0">
              <a:buNone/>
            </a:pPr>
            <a:r>
              <a:rPr lang="en-US" sz="1800" dirty="0">
                <a:latin typeface="Times New Roman" panose="02020603050405020304" pitchFamily="18" charset="0"/>
                <a:cs typeface="Times New Roman" panose="02020603050405020304" pitchFamily="18" charset="0"/>
              </a:rPr>
              <a:t> </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endParaRPr lang="en-IN" sz="1800" b="1"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4294967295"/>
          </p:nvPr>
        </p:nvSpPr>
        <p:spPr>
          <a:xfrm>
            <a:off x="7010400" y="1825625"/>
            <a:ext cx="5181600" cy="4351338"/>
          </a:xfrm>
        </p:spPr>
        <p:txBody>
          <a:bodyPr>
            <a:normAutofit/>
          </a:bodyPr>
          <a:lstStyle/>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        OUTPUT:</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endParaRPr lang="en-IN" sz="1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457C981-278D-6BBE-8002-2E07957337CB}"/>
              </a:ext>
            </a:extLst>
          </p:cNvPr>
          <p:cNvPicPr>
            <a:picLocks noChangeAspect="1"/>
          </p:cNvPicPr>
          <p:nvPr/>
        </p:nvPicPr>
        <p:blipFill>
          <a:blip r:embed="rId2"/>
          <a:stretch>
            <a:fillRect/>
          </a:stretch>
        </p:blipFill>
        <p:spPr>
          <a:xfrm>
            <a:off x="838200" y="2876550"/>
            <a:ext cx="5114925" cy="1104900"/>
          </a:xfrm>
          <a:prstGeom prst="rect">
            <a:avLst/>
          </a:prstGeom>
        </p:spPr>
      </p:pic>
      <p:pic>
        <p:nvPicPr>
          <p:cNvPr id="12" name="Picture 11">
            <a:extLst>
              <a:ext uri="{FF2B5EF4-FFF2-40B4-BE49-F238E27FC236}">
                <a16:creationId xmlns:a16="http://schemas.microsoft.com/office/drawing/2014/main" id="{A151559D-5A52-176F-17B6-C69D4E73CD36}"/>
              </a:ext>
            </a:extLst>
          </p:cNvPr>
          <p:cNvPicPr>
            <a:picLocks noChangeAspect="1"/>
          </p:cNvPicPr>
          <p:nvPr/>
        </p:nvPicPr>
        <p:blipFill>
          <a:blip r:embed="rId3"/>
          <a:stretch>
            <a:fillRect/>
          </a:stretch>
        </p:blipFill>
        <p:spPr>
          <a:xfrm>
            <a:off x="7659329" y="3076574"/>
            <a:ext cx="2703871" cy="11414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8160"/>
            <a:ext cx="10515600" cy="1534160"/>
          </a:xfrm>
        </p:spPr>
        <p:txBody>
          <a:bodyPr>
            <a:normAutofit/>
          </a:bodyPr>
          <a:lstStyle/>
          <a:p>
            <a:r>
              <a:rPr lang="en-IN" sz="2000" b="1" dirty="0">
                <a:latin typeface="Times New Roman" panose="02020603050405020304" pitchFamily="18" charset="0"/>
                <a:cs typeface="Times New Roman" panose="02020603050405020304" pitchFamily="18" charset="0"/>
              </a:rPr>
              <a:t>Which departments have the highest number of employees?</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endParaRPr lang="en-IN" sz="2000" b="1" dirty="0"/>
          </a:p>
        </p:txBody>
      </p:sp>
      <p:sp>
        <p:nvSpPr>
          <p:cNvPr id="3" name="Text Placeholder 2"/>
          <p:cNvSpPr>
            <a:spLocks noGrp="1"/>
          </p:cNvSpPr>
          <p:nvPr>
            <p:ph type="body" idx="1"/>
          </p:nvPr>
        </p:nvSpPr>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r>
              <a:rPr lang="en-IN" sz="1800" b="1" dirty="0">
                <a:solidFill>
                  <a:schemeClr val="tx1"/>
                </a:solidFill>
                <a:latin typeface="Times New Roman" panose="02020603050405020304" pitchFamily="18" charset="0"/>
                <a:cs typeface="Times New Roman" panose="02020603050405020304" pitchFamily="18" charset="0"/>
              </a:rPr>
              <a:t>                                                                                                             </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IN" sz="1800" dirty="0">
                <a:latin typeface="Times New Roman" panose="02020603050405020304" pitchFamily="18" charset="0"/>
                <a:cs typeface="Times New Roman" panose="02020603050405020304" pitchFamily="18" charset="0"/>
              </a:rPr>
              <a:t>Shows the number of employees in each department. </a:t>
            </a:r>
          </a:p>
          <a:p>
            <a:r>
              <a:rPr lang="en-IN" sz="1800" dirty="0">
                <a:latin typeface="Times New Roman" panose="02020603050405020304" pitchFamily="18" charset="0"/>
                <a:cs typeface="Times New Roman" panose="02020603050405020304" pitchFamily="18" charset="0"/>
              </a:rPr>
              <a:t>Helps identify departments with the highest workforce.</a:t>
            </a:r>
            <a:endParaRPr lang="en-IN" sz="18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a:p>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8399F8F-EBC0-6DCB-B0F1-615F70A5BC99}"/>
              </a:ext>
            </a:extLst>
          </p:cNvPr>
          <p:cNvPicPr>
            <a:picLocks noChangeAspect="1"/>
          </p:cNvPicPr>
          <p:nvPr/>
        </p:nvPicPr>
        <p:blipFill>
          <a:blip r:embed="rId2"/>
          <a:stretch>
            <a:fillRect/>
          </a:stretch>
        </p:blipFill>
        <p:spPr>
          <a:xfrm>
            <a:off x="686696" y="2416712"/>
            <a:ext cx="7038975" cy="2171700"/>
          </a:xfrm>
          <a:prstGeom prst="rect">
            <a:avLst/>
          </a:prstGeom>
        </p:spPr>
      </p:pic>
      <p:pic>
        <p:nvPicPr>
          <p:cNvPr id="9" name="Picture 8">
            <a:extLst>
              <a:ext uri="{FF2B5EF4-FFF2-40B4-BE49-F238E27FC236}">
                <a16:creationId xmlns:a16="http://schemas.microsoft.com/office/drawing/2014/main" id="{8F0DFCB9-FB40-6D64-FD3B-6E0FD6DE4F44}"/>
              </a:ext>
            </a:extLst>
          </p:cNvPr>
          <p:cNvPicPr>
            <a:picLocks noChangeAspect="1"/>
          </p:cNvPicPr>
          <p:nvPr/>
        </p:nvPicPr>
        <p:blipFill>
          <a:blip r:embed="rId3"/>
          <a:stretch>
            <a:fillRect/>
          </a:stretch>
        </p:blipFill>
        <p:spPr>
          <a:xfrm>
            <a:off x="7877175" y="2692937"/>
            <a:ext cx="2514600" cy="18954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688" y="365126"/>
            <a:ext cx="10781112" cy="952398"/>
          </a:xfrm>
        </p:spPr>
        <p:txBody>
          <a:bodyPr>
            <a:noAutofit/>
          </a:bodyPr>
          <a:lstStyle/>
          <a:p>
            <a:pPr fontAlgn="base"/>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2.  JOB ROLE AND DEPARTMENT ANALYSIS</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How many different job roles exist in each department?</a:t>
            </a:r>
          </a:p>
        </p:txBody>
      </p:sp>
      <p:sp>
        <p:nvSpPr>
          <p:cNvPr id="3" name="Text Placeholder 2"/>
          <p:cNvSpPr>
            <a:spLocks noGrp="1"/>
          </p:cNvSpPr>
          <p:nvPr>
            <p:ph type="body" idx="1"/>
          </p:nvPr>
        </p:nvSpPr>
        <p:spPr>
          <a:xfrm>
            <a:off x="494030" y="1907459"/>
            <a:ext cx="10781112" cy="4109884"/>
          </a:xfrm>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a:t>
            </a:r>
            <a:r>
              <a:rPr lang="en-IN" sz="18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                                                                                                   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IN" sz="1800" dirty="0">
                <a:latin typeface="Times New Roman" panose="02020603050405020304" pitchFamily="18" charset="0"/>
                <a:cs typeface="Times New Roman" panose="02020603050405020304" pitchFamily="18" charset="0"/>
              </a:rPr>
              <a:t>Shows the number of job roles available in each department. </a:t>
            </a:r>
          </a:p>
          <a:p>
            <a:r>
              <a:rPr lang="en-IN" sz="1800" dirty="0">
                <a:latin typeface="Times New Roman" panose="02020603050405020304" pitchFamily="18" charset="0"/>
                <a:cs typeface="Times New Roman" panose="02020603050405020304" pitchFamily="18" charset="0"/>
              </a:rPr>
              <a:t>Helps identify departments with the highest variety of job roles</a:t>
            </a:r>
            <a:endParaRPr lang="en-US" sz="1800" dirty="0">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9865B68-B01C-281D-CE8F-2FDC934CB5E9}"/>
              </a:ext>
            </a:extLst>
          </p:cNvPr>
          <p:cNvPicPr>
            <a:picLocks noChangeAspect="1"/>
          </p:cNvPicPr>
          <p:nvPr/>
        </p:nvPicPr>
        <p:blipFill>
          <a:blip r:embed="rId2"/>
          <a:stretch>
            <a:fillRect/>
          </a:stretch>
        </p:blipFill>
        <p:spPr>
          <a:xfrm>
            <a:off x="572688" y="2723228"/>
            <a:ext cx="7134225" cy="1564640"/>
          </a:xfrm>
          <a:prstGeom prst="rect">
            <a:avLst/>
          </a:prstGeom>
        </p:spPr>
      </p:pic>
      <p:pic>
        <p:nvPicPr>
          <p:cNvPr id="9" name="Picture 8">
            <a:extLst>
              <a:ext uri="{FF2B5EF4-FFF2-40B4-BE49-F238E27FC236}">
                <a16:creationId xmlns:a16="http://schemas.microsoft.com/office/drawing/2014/main" id="{726E6549-6D76-8520-E7BF-9C49B077E95A}"/>
              </a:ext>
            </a:extLst>
          </p:cNvPr>
          <p:cNvPicPr>
            <a:picLocks noChangeAspect="1"/>
          </p:cNvPicPr>
          <p:nvPr/>
        </p:nvPicPr>
        <p:blipFill>
          <a:blip r:embed="rId3"/>
          <a:stretch>
            <a:fillRect/>
          </a:stretch>
        </p:blipFill>
        <p:spPr>
          <a:xfrm>
            <a:off x="8124190" y="2661776"/>
            <a:ext cx="2733675" cy="1781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000" b="1" dirty="0">
                <a:latin typeface="Times New Roman" panose="02020603050405020304" pitchFamily="18" charset="0"/>
                <a:cs typeface="Times New Roman" panose="02020603050405020304" pitchFamily="18" charset="0"/>
              </a:rPr>
              <a:t>Which departments have the highest total salary allocation?</a:t>
            </a:r>
          </a:p>
        </p:txBody>
      </p:sp>
      <p:sp>
        <p:nvSpPr>
          <p:cNvPr id="3" name="Text Placeholder 2"/>
          <p:cNvSpPr>
            <a:spLocks noGrp="1"/>
          </p:cNvSpPr>
          <p:nvPr>
            <p:ph type="body" idx="1"/>
          </p:nvPr>
        </p:nvSpPr>
        <p:spPr/>
        <p:txBody>
          <a:bodyPr>
            <a:normAutofit lnSpcReduction="10000"/>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a:t>
            </a:r>
            <a:r>
              <a:rPr lang="en-IN" sz="18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IN" sz="1800" dirty="0">
                <a:latin typeface="Times New Roman" panose="02020603050405020304" pitchFamily="18" charset="0"/>
                <a:cs typeface="Times New Roman" panose="02020603050405020304" pitchFamily="18" charset="0"/>
              </a:rPr>
              <a:t>Shows the total salary allocation for each department. </a:t>
            </a:r>
          </a:p>
          <a:p>
            <a:r>
              <a:rPr lang="en-IN" sz="1800" dirty="0">
                <a:latin typeface="Times New Roman" panose="02020603050405020304" pitchFamily="18" charset="0"/>
                <a:cs typeface="Times New Roman" panose="02020603050405020304" pitchFamily="18" charset="0"/>
              </a:rPr>
              <a:t>Helps identify departments with the highest salary expenditure.</a:t>
            </a: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1800" b="1" dirty="0">
                <a:solidFill>
                  <a:schemeClr val="tx1"/>
                </a:solidFill>
                <a:latin typeface="Times New Roman" panose="02020603050405020304" pitchFamily="18" charset="0"/>
                <a:cs typeface="Times New Roman" panose="02020603050405020304" pitchFamily="18" charset="0"/>
              </a:rPr>
              <a:t>                       </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08411AF-F020-9B53-7EE6-8DD0564024F6}"/>
              </a:ext>
            </a:extLst>
          </p:cNvPr>
          <p:cNvPicPr>
            <a:picLocks noChangeAspect="1"/>
          </p:cNvPicPr>
          <p:nvPr/>
        </p:nvPicPr>
        <p:blipFill>
          <a:blip r:embed="rId2"/>
          <a:stretch>
            <a:fillRect/>
          </a:stretch>
        </p:blipFill>
        <p:spPr>
          <a:xfrm>
            <a:off x="805928" y="2384839"/>
            <a:ext cx="6991350" cy="1800225"/>
          </a:xfrm>
          <a:prstGeom prst="rect">
            <a:avLst/>
          </a:prstGeom>
        </p:spPr>
      </p:pic>
      <p:pic>
        <p:nvPicPr>
          <p:cNvPr id="9" name="Picture 8">
            <a:extLst>
              <a:ext uri="{FF2B5EF4-FFF2-40B4-BE49-F238E27FC236}">
                <a16:creationId xmlns:a16="http://schemas.microsoft.com/office/drawing/2014/main" id="{FA04C44E-2132-AFF2-E951-E963FE56DE6A}"/>
              </a:ext>
            </a:extLst>
          </p:cNvPr>
          <p:cNvPicPr>
            <a:picLocks noChangeAspect="1"/>
          </p:cNvPicPr>
          <p:nvPr/>
        </p:nvPicPr>
        <p:blipFill>
          <a:blip r:embed="rId3"/>
          <a:stretch>
            <a:fillRect/>
          </a:stretch>
        </p:blipFill>
        <p:spPr>
          <a:xfrm>
            <a:off x="8137264" y="2676986"/>
            <a:ext cx="2876550" cy="1838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1622323"/>
            <a:ext cx="10515600" cy="98846"/>
          </a:xfrm>
        </p:spPr>
        <p:txBody>
          <a:bodyPr>
            <a:normAutofit fontScale="90000"/>
          </a:bodyPr>
          <a:lstStyle/>
          <a:p>
            <a:r>
              <a:rPr lang="en-US" sz="2000" b="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3. QUALIFICATION AND SKILLS ANALYSIS</a:t>
            </a:r>
            <a:br>
              <a:rPr lang="en-US" sz="3100" b="1" dirty="0">
                <a:latin typeface="Times New Roman" panose="02020603050405020304" pitchFamily="18" charset="0"/>
                <a:cs typeface="Times New Roman" panose="02020603050405020304" pitchFamily="18" charset="0"/>
              </a:rPr>
            </a:br>
            <a:br>
              <a:rPr lang="en-US" sz="31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How which positions requires the most qualification</a:t>
            </a:r>
            <a:br>
              <a:rPr lang="en-US" sz="2200" b="1" dirty="0">
                <a:latin typeface="Times New Roman" panose="02020603050405020304" pitchFamily="18" charset="0"/>
                <a:cs typeface="Times New Roman" panose="02020603050405020304" pitchFamily="18" charset="0"/>
              </a:rPr>
            </a:br>
            <a:br>
              <a:rPr lang="en-US" sz="2200" b="1" dirty="0">
                <a:latin typeface="Times New Roman" panose="02020603050405020304" pitchFamily="18" charset="0"/>
                <a:cs typeface="Times New Roman" panose="02020603050405020304" pitchFamily="18" charset="0"/>
              </a:rPr>
            </a:br>
            <a:br>
              <a:rPr lang="en-US" dirty="0"/>
            </a:br>
            <a:br>
              <a:rPr lang="en-US" sz="3100" b="1" dirty="0">
                <a:latin typeface="Times New Roman" panose="02020603050405020304" pitchFamily="18" charset="0"/>
                <a:cs typeface="Times New Roman" panose="02020603050405020304" pitchFamily="18" charset="0"/>
              </a:rPr>
            </a:br>
            <a:br>
              <a:rPr lang="en-US" sz="2000" b="1" dirty="0"/>
            </a:br>
            <a:endParaRPr lang="en-IN" sz="2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IN" sz="1800" dirty="0">
                <a:latin typeface="Times New Roman" panose="02020603050405020304" pitchFamily="18" charset="0"/>
                <a:cs typeface="Times New Roman" panose="02020603050405020304" pitchFamily="18" charset="0"/>
              </a:rPr>
              <a:t>Shows the number of qualifications required for each position.</a:t>
            </a:r>
          </a:p>
          <a:p>
            <a:r>
              <a:rPr lang="en-IN" sz="1800" dirty="0">
                <a:latin typeface="Times New Roman" panose="02020603050405020304" pitchFamily="18" charset="0"/>
                <a:cs typeface="Times New Roman" panose="02020603050405020304" pitchFamily="18" charset="0"/>
              </a:rPr>
              <a:t> Helps identify positions with the highest qualification requirements.</a:t>
            </a:r>
            <a:endParaRPr lang="en-US" sz="1800" dirty="0">
              <a:latin typeface="Times New Roman" panose="02020603050405020304" pitchFamily="18" charset="0"/>
              <a:cs typeface="Times New Roman" panose="02020603050405020304" pitchFamily="18" charset="0"/>
            </a:endParaRPr>
          </a:p>
          <a:p>
            <a:endParaRPr lang="en-IN" sz="1800" b="1" dirty="0">
              <a:solidFill>
                <a:schemeClr val="tx1"/>
              </a:solidFill>
              <a:latin typeface="Times New Roman" panose="02020603050405020304" pitchFamily="18" charset="0"/>
              <a:cs typeface="Times New Roman" panose="02020603050405020304" pitchFamily="18" charset="0"/>
            </a:endParaRPr>
          </a:p>
          <a:p>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7785A00-A540-9867-D549-2118C8DB1FD2}"/>
              </a:ext>
            </a:extLst>
          </p:cNvPr>
          <p:cNvPicPr>
            <a:picLocks noChangeAspect="1"/>
          </p:cNvPicPr>
          <p:nvPr/>
        </p:nvPicPr>
        <p:blipFill>
          <a:blip r:embed="rId2"/>
          <a:stretch>
            <a:fillRect/>
          </a:stretch>
        </p:blipFill>
        <p:spPr>
          <a:xfrm>
            <a:off x="960755" y="2535555"/>
            <a:ext cx="4962525" cy="1143000"/>
          </a:xfrm>
          <a:prstGeom prst="rect">
            <a:avLst/>
          </a:prstGeom>
        </p:spPr>
      </p:pic>
      <p:pic>
        <p:nvPicPr>
          <p:cNvPr id="9" name="Picture 8">
            <a:extLst>
              <a:ext uri="{FF2B5EF4-FFF2-40B4-BE49-F238E27FC236}">
                <a16:creationId xmlns:a16="http://schemas.microsoft.com/office/drawing/2014/main" id="{987DEFD6-BC61-112B-A374-8032E25BF17A}"/>
              </a:ext>
            </a:extLst>
          </p:cNvPr>
          <p:cNvPicPr>
            <a:picLocks noChangeAspect="1"/>
          </p:cNvPicPr>
          <p:nvPr/>
        </p:nvPicPr>
        <p:blipFill>
          <a:blip r:embed="rId3"/>
          <a:stretch>
            <a:fillRect/>
          </a:stretch>
        </p:blipFill>
        <p:spPr>
          <a:xfrm>
            <a:off x="8373745" y="2402450"/>
            <a:ext cx="2857500" cy="3409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5400"/>
            <a:ext cx="10515600" cy="395288"/>
          </a:xfrm>
        </p:spPr>
        <p:txBody>
          <a:bodyPr>
            <a:normAutofit fontScale="90000"/>
          </a:bodyPr>
          <a:lstStyle/>
          <a:p>
            <a:r>
              <a:rPr lang="en-US" sz="2200" b="1"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How many employees have at least one qualification listed?</a:t>
            </a:r>
            <a:r>
              <a:rPr lang="en-US" sz="2200" b="1" dirty="0">
                <a:latin typeface="Times New Roman" panose="02020603050405020304" pitchFamily="18" charset="0"/>
                <a:cs typeface="Times New Roman" panose="02020603050405020304" pitchFamily="18" charset="0"/>
              </a:rPr>
              <a:t> </a:t>
            </a:r>
            <a:br>
              <a:rPr lang="en-US" sz="2200" b="1" dirty="0">
                <a:latin typeface="Times New Roman" panose="02020603050405020304" pitchFamily="18" charset="0"/>
                <a:cs typeface="Times New Roman" panose="02020603050405020304" pitchFamily="18" charset="0"/>
              </a:rPr>
            </a:br>
            <a:br>
              <a:rPr lang="en-US" dirty="0"/>
            </a:br>
            <a:br>
              <a:rPr lang="en-US" dirty="0"/>
            </a:br>
            <a:endParaRPr lang="en-IN" sz="2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IN" sz="1800" dirty="0">
                <a:latin typeface="Times New Roman" panose="02020603050405020304" pitchFamily="18" charset="0"/>
                <a:cs typeface="Times New Roman" panose="02020603050405020304" pitchFamily="18" charset="0"/>
              </a:rPr>
              <a:t>Shows employees with the highest number of qualifications. </a:t>
            </a:r>
          </a:p>
          <a:p>
            <a:r>
              <a:rPr lang="en-IN" sz="1800" dirty="0">
                <a:latin typeface="Times New Roman" panose="02020603050405020304" pitchFamily="18" charset="0"/>
                <a:cs typeface="Times New Roman" panose="02020603050405020304" pitchFamily="18" charset="0"/>
              </a:rPr>
              <a:t>Helps identify highly skilled and qualified employees within the organization.</a:t>
            </a:r>
            <a:endParaRPr lang="en-US" sz="1800" dirty="0">
              <a:latin typeface="Times New Roman" panose="02020603050405020304" pitchFamily="18" charset="0"/>
              <a:cs typeface="Times New Roman" panose="02020603050405020304" pitchFamily="18" charset="0"/>
            </a:endParaRPr>
          </a:p>
          <a:p>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FAFF9578-F300-6565-2B3B-0458B11BA9A1}"/>
              </a:ext>
            </a:extLst>
          </p:cNvPr>
          <p:cNvPicPr>
            <a:picLocks noChangeAspect="1"/>
          </p:cNvPicPr>
          <p:nvPr/>
        </p:nvPicPr>
        <p:blipFill>
          <a:blip r:embed="rId2"/>
          <a:stretch>
            <a:fillRect/>
          </a:stretch>
        </p:blipFill>
        <p:spPr>
          <a:xfrm>
            <a:off x="992444" y="2419350"/>
            <a:ext cx="7372350" cy="2019300"/>
          </a:xfrm>
          <a:prstGeom prst="rect">
            <a:avLst/>
          </a:prstGeom>
        </p:spPr>
      </p:pic>
      <p:pic>
        <p:nvPicPr>
          <p:cNvPr id="15" name="Picture 14">
            <a:extLst>
              <a:ext uri="{FF2B5EF4-FFF2-40B4-BE49-F238E27FC236}">
                <a16:creationId xmlns:a16="http://schemas.microsoft.com/office/drawing/2014/main" id="{8FC31234-39F2-B21C-A07B-1B811E4AF086}"/>
              </a:ext>
            </a:extLst>
          </p:cNvPr>
          <p:cNvPicPr>
            <a:picLocks noChangeAspect="1"/>
          </p:cNvPicPr>
          <p:nvPr/>
        </p:nvPicPr>
        <p:blipFill>
          <a:blip r:embed="rId3"/>
          <a:stretch>
            <a:fillRect/>
          </a:stretch>
        </p:blipFill>
        <p:spPr>
          <a:xfrm>
            <a:off x="8364794" y="2688508"/>
            <a:ext cx="2895600" cy="2247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7520"/>
            <a:ext cx="10515600" cy="1213169"/>
          </a:xfrm>
        </p:spPr>
        <p:txBody>
          <a:bodyPr>
            <a:normAutofit/>
          </a:bodyPr>
          <a:lstStyle/>
          <a:p>
            <a:r>
              <a:rPr lang="en-US" sz="2000" b="1" dirty="0">
                <a:latin typeface="Times New Roman" panose="02020603050405020304" pitchFamily="18" charset="0"/>
                <a:cs typeface="Times New Roman" panose="02020603050405020304" pitchFamily="18" charset="0"/>
              </a:rPr>
              <a:t>4. Leave And Absence Patterns</a:t>
            </a:r>
            <a:br>
              <a:rPr lang="en-US" sz="28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Which year had the most employees taking leaves?</a:t>
            </a:r>
            <a:endParaRPr lang="en-IN" sz="2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825624"/>
            <a:ext cx="10515600" cy="4554855"/>
          </a:xfrm>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endParaRPr lang="en-US" sz="2000" dirty="0">
              <a:solidFill>
                <a:srgbClr val="FF0000"/>
              </a:solidFill>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Helps understand employee leave trends over the years.</a:t>
            </a:r>
          </a:p>
          <a:p>
            <a:r>
              <a:rPr lang="en-US" sz="1800" dirty="0">
                <a:latin typeface="Times New Roman" panose="02020603050405020304" pitchFamily="18" charset="0"/>
                <a:cs typeface="Times New Roman" panose="02020603050405020304" pitchFamily="18" charset="0"/>
              </a:rPr>
              <a:t> Shows which year had the highest number of employees taking leaves. </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1910" y="2456492"/>
            <a:ext cx="5857875" cy="188349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3495" y="2456492"/>
            <a:ext cx="3525031" cy="22764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4097"/>
            <a:ext cx="10515600" cy="896592"/>
          </a:xfrm>
        </p:spPr>
        <p:txBody>
          <a:bodyPr>
            <a:normAutofit/>
          </a:bodyPr>
          <a:lstStyle/>
          <a:p>
            <a:r>
              <a:rPr lang="en-US" sz="2000" b="1" dirty="0">
                <a:latin typeface="Times New Roman" panose="02020603050405020304" pitchFamily="18" charset="0"/>
                <a:cs typeface="Times New Roman" panose="02020603050405020304" pitchFamily="18" charset="0"/>
              </a:rPr>
              <a:t>Which employees have taken the most leaves?</a:t>
            </a:r>
            <a:endParaRPr lang="en-IN" sz="2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fontScale="92500" lnSpcReduction="10000"/>
          </a:bodyPr>
          <a:lstStyle/>
          <a:p>
            <a:pPr marL="114300" indent="0">
              <a:buNone/>
            </a:pPr>
            <a:r>
              <a:rPr lang="en-IN" sz="22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endParaRPr lang="en-IN" sz="2200" b="1" dirty="0">
              <a:solidFill>
                <a:srgbClr val="FF0000"/>
              </a:solidFill>
              <a:latin typeface="Times New Roman" panose="02020603050405020304" pitchFamily="18" charset="0"/>
              <a:cs typeface="Times New Roman" panose="02020603050405020304" pitchFamily="18" charset="0"/>
            </a:endParaRPr>
          </a:p>
          <a:p>
            <a:pPr marL="114300" indent="0">
              <a:buNone/>
            </a:pPr>
            <a:r>
              <a:rPr lang="en-IN" sz="1800" b="1" dirty="0">
                <a:solidFill>
                  <a:srgbClr val="FF0000"/>
                </a:solidFill>
                <a:latin typeface="Times New Roman" panose="02020603050405020304" pitchFamily="18" charset="0"/>
                <a:cs typeface="Times New Roman" panose="02020603050405020304" pitchFamily="18" charset="0"/>
              </a:rPr>
              <a:t>                                                                                                                      </a:t>
            </a: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200" b="1" dirty="0">
                <a:solidFill>
                  <a:srgbClr val="FF0000"/>
                </a:solidFill>
                <a:latin typeface="Times New Roman" panose="02020603050405020304" pitchFamily="18" charset="0"/>
                <a:cs typeface="Times New Roman" panose="02020603050405020304" pitchFamily="18" charset="0"/>
              </a:rPr>
              <a:t>Key Insights:</a:t>
            </a:r>
          </a:p>
          <a:p>
            <a:r>
              <a:rPr lang="en-US" sz="1900" dirty="0">
                <a:latin typeface="Times New Roman" panose="02020603050405020304" pitchFamily="18" charset="0"/>
                <a:cs typeface="Times New Roman" panose="02020603050405020304" pitchFamily="18" charset="0"/>
              </a:rPr>
              <a:t>Shows which employees have taken the most leaves.</a:t>
            </a:r>
          </a:p>
          <a:p>
            <a:r>
              <a:rPr lang="en-US" sz="1900" dirty="0">
                <a:latin typeface="Times New Roman" panose="02020603050405020304" pitchFamily="18" charset="0"/>
                <a:cs typeface="Times New Roman" panose="02020603050405020304" pitchFamily="18" charset="0"/>
              </a:rPr>
              <a:t>Helps identify employees with high leave usage.</a:t>
            </a:r>
          </a:p>
          <a:p>
            <a:endParaRPr lang="en-US" sz="1800" dirty="0">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310" y="2251074"/>
            <a:ext cx="5594916" cy="233457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8973" y="2532939"/>
            <a:ext cx="3874828" cy="22288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4097"/>
            <a:ext cx="10515600" cy="896592"/>
          </a:xfrm>
        </p:spPr>
        <p:txBody>
          <a:bodyPr>
            <a:normAutofit fontScale="90000"/>
          </a:bodyPr>
          <a:lstStyle/>
          <a:p>
            <a:r>
              <a:rPr lang="en-US" sz="2200" b="1" dirty="0">
                <a:latin typeface="Times New Roman" panose="02020603050405020304" pitchFamily="18" charset="0"/>
                <a:cs typeface="Times New Roman" panose="02020603050405020304" pitchFamily="18" charset="0"/>
              </a:rPr>
              <a:t>5. Payroll And Compensation Analysis</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What is the total monthly payroll processed?</a:t>
            </a:r>
            <a:endParaRPr lang="en-IN" sz="22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p>
          <a:p>
            <a:r>
              <a:rPr lang="en-US" sz="1800" dirty="0">
                <a:latin typeface="Times New Roman" panose="02020603050405020304" pitchFamily="18" charset="0"/>
                <a:cs typeface="Times New Roman" panose="02020603050405020304" pitchFamily="18" charset="0"/>
              </a:rPr>
              <a:t> Shows the total payroll amount processed each month.</a:t>
            </a:r>
          </a:p>
          <a:p>
            <a:r>
              <a:rPr lang="en-US" sz="1800" dirty="0">
                <a:latin typeface="Times New Roman" panose="02020603050405020304" pitchFamily="18" charset="0"/>
                <a:cs typeface="Times New Roman" panose="02020603050405020304" pitchFamily="18" charset="0"/>
              </a:rPr>
              <a:t> Helps track salary expenses over different months and years.</a:t>
            </a: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105" y="2637865"/>
            <a:ext cx="6706737" cy="173156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8811" y="2587104"/>
            <a:ext cx="3711053" cy="1414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8733"/>
            <a:ext cx="10515600" cy="1241956"/>
          </a:xfrm>
        </p:spPr>
        <p:txBody>
          <a:bodyPr>
            <a:normAutofit/>
          </a:bodyPr>
          <a:lstStyle/>
          <a:p>
            <a:r>
              <a:rPr lang="en-US" sz="2000" b="1" dirty="0">
                <a:latin typeface="Times New Roman" panose="02020603050405020304" pitchFamily="18" charset="0"/>
                <a:cs typeface="Times New Roman" panose="02020603050405020304" pitchFamily="18" charset="0"/>
              </a:rPr>
              <a:t>Which department receives the highest total bonuses?</a:t>
            </a:r>
            <a:endParaRPr lang="en-IN" sz="2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a:bodyPr>
          <a:lstStyle/>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QUERY:                                                                     OUTPUT:</a:t>
            </a: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1800" b="1"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b="1" dirty="0">
                <a:solidFill>
                  <a:srgbClr val="FF0000"/>
                </a:solidFill>
                <a:latin typeface="Times New Roman" panose="02020603050405020304" pitchFamily="18" charset="0"/>
                <a:cs typeface="Times New Roman" panose="02020603050405020304" pitchFamily="18" charset="0"/>
              </a:rPr>
              <a:t>Key Insights:</a:t>
            </a:r>
            <a:endParaRPr lang="en-US" sz="2000" dirty="0">
              <a:solidFill>
                <a:srgbClr val="FF0000"/>
              </a:solidFill>
              <a:latin typeface="Times New Roman" panose="02020603050405020304" pitchFamily="18" charset="0"/>
              <a:cs typeface="Times New Roman" panose="02020603050405020304" pitchFamily="18" charset="0"/>
            </a:endParaRPr>
          </a:p>
          <a:p>
            <a:r>
              <a:rPr lang="en-IN" sz="1800" dirty="0"/>
              <a:t>Shows which department receives the highest total bonus amount.</a:t>
            </a:r>
          </a:p>
          <a:p>
            <a:r>
              <a:rPr lang="en-IN" sz="1800" dirty="0"/>
              <a:t> Helps identify departments with the highest employee incentive allocation.</a:t>
            </a:r>
            <a:endParaRPr lang="en-US" sz="1800" dirty="0">
              <a:latin typeface="Times New Roman" panose="02020603050405020304" pitchFamily="18" charset="0"/>
              <a:cs typeface="Times New Roman" panose="02020603050405020304" pitchFamily="18" charset="0"/>
            </a:endParaRPr>
          </a:p>
          <a:p>
            <a:endParaRPr lang="en-IN" sz="18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84DB340-C21A-5EE9-E4FC-B6A43576DE7F}"/>
              </a:ext>
            </a:extLst>
          </p:cNvPr>
          <p:cNvPicPr>
            <a:picLocks noChangeAspect="1"/>
          </p:cNvPicPr>
          <p:nvPr/>
        </p:nvPicPr>
        <p:blipFill>
          <a:blip r:embed="rId2"/>
          <a:stretch>
            <a:fillRect/>
          </a:stretch>
        </p:blipFill>
        <p:spPr>
          <a:xfrm>
            <a:off x="995266" y="2635217"/>
            <a:ext cx="6339762" cy="1438275"/>
          </a:xfrm>
          <a:prstGeom prst="rect">
            <a:avLst/>
          </a:prstGeom>
        </p:spPr>
      </p:pic>
      <p:pic>
        <p:nvPicPr>
          <p:cNvPr id="8" name="Picture 7">
            <a:extLst>
              <a:ext uri="{FF2B5EF4-FFF2-40B4-BE49-F238E27FC236}">
                <a16:creationId xmlns:a16="http://schemas.microsoft.com/office/drawing/2014/main" id="{E97D4CA6-A2C4-C2F6-F53D-B994EA63B123}"/>
              </a:ext>
            </a:extLst>
          </p:cNvPr>
          <p:cNvPicPr>
            <a:picLocks noChangeAspect="1"/>
          </p:cNvPicPr>
          <p:nvPr/>
        </p:nvPicPr>
        <p:blipFill>
          <a:blip r:embed="rId3"/>
          <a:stretch>
            <a:fillRect/>
          </a:stretch>
        </p:blipFill>
        <p:spPr>
          <a:xfrm>
            <a:off x="7492093" y="2635217"/>
            <a:ext cx="3086100" cy="20097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Key Insights and Recommendations</a:t>
            </a:r>
          </a:p>
        </p:txBody>
      </p:sp>
      <p:sp>
        <p:nvSpPr>
          <p:cNvPr id="3" name="Text Placeholder 2"/>
          <p:cNvSpPr>
            <a:spLocks noGrp="1"/>
          </p:cNvSpPr>
          <p:nvPr>
            <p:ph type="body" idx="1"/>
          </p:nvPr>
        </p:nvSpPr>
        <p:spPr/>
        <p:txBody>
          <a:bodyPr>
            <a:normAutofit/>
          </a:bodyPr>
          <a:lstStyle/>
          <a:p>
            <a:pPr>
              <a:lnSpc>
                <a:spcPct val="100000"/>
              </a:lnSpc>
            </a:pPr>
            <a:r>
              <a:rPr lang="en-IN" sz="1800" dirty="0">
                <a:latin typeface="Times New Roman" panose="02020603050405020304" pitchFamily="18" charset="0"/>
                <a:cs typeface="Times New Roman" panose="02020603050405020304" pitchFamily="18" charset="0"/>
              </a:rPr>
              <a:t>Focus on departments with higher employee count by ensuring proper workload distribution and resource allocation to improve overall productivity. </a:t>
            </a:r>
          </a:p>
          <a:p>
            <a:pPr>
              <a:lnSpc>
                <a:spcPct val="100000"/>
              </a:lnSpc>
            </a:pPr>
            <a:r>
              <a:rPr lang="en-IN" sz="1800" dirty="0">
                <a:latin typeface="Times New Roman" panose="02020603050405020304" pitchFamily="18" charset="0"/>
                <a:cs typeface="Times New Roman" panose="02020603050405020304" pitchFamily="18" charset="0"/>
              </a:rPr>
              <a:t>Review salary structures across departments regularly to maintain fair compensation and improve employee satisfaction. </a:t>
            </a:r>
          </a:p>
          <a:p>
            <a:pPr>
              <a:lnSpc>
                <a:spcPct val="100000"/>
              </a:lnSpc>
            </a:pPr>
            <a:r>
              <a:rPr lang="en-IN" sz="1800" dirty="0">
                <a:latin typeface="Times New Roman" panose="02020603050405020304" pitchFamily="18" charset="0"/>
                <a:cs typeface="Times New Roman" panose="02020603050405020304" pitchFamily="18" charset="0"/>
              </a:rPr>
              <a:t>Encourage employees to upgrade their qualifications and skills through training programs to support career growth and organizational development. </a:t>
            </a:r>
          </a:p>
          <a:p>
            <a:pPr>
              <a:lnSpc>
                <a:spcPct val="100000"/>
              </a:lnSpc>
            </a:pPr>
            <a:r>
              <a:rPr lang="en-IN" sz="1800" dirty="0">
                <a:latin typeface="Times New Roman" panose="02020603050405020304" pitchFamily="18" charset="0"/>
                <a:cs typeface="Times New Roman" panose="02020603050405020304" pitchFamily="18" charset="0"/>
              </a:rPr>
              <a:t>Recognize and reward top-performing employees based on payroll, qualifications, or performance metrics to increase motivation and efficiency.</a:t>
            </a:r>
          </a:p>
          <a:p>
            <a:pPr>
              <a:lnSpc>
                <a:spcPct val="100000"/>
              </a:lnSpc>
            </a:pPr>
            <a:r>
              <a:rPr lang="en-IN" sz="1800" dirty="0">
                <a:latin typeface="Times New Roman" panose="02020603050405020304" pitchFamily="18" charset="0"/>
                <a:cs typeface="Times New Roman" panose="02020603050405020304" pitchFamily="18" charset="0"/>
              </a:rPr>
              <a:t>Monitor employee leave patterns to identify frequent absences and implement effective leave management strategies for uninterrupted workflow.</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Experience </a:t>
            </a:r>
            <a:br>
              <a:rPr lang="en-IN" sz="3600" dirty="0">
                <a:solidFill>
                  <a:srgbClr val="FF0000"/>
                </a:solidFill>
                <a:latin typeface="Times New Roman" panose="02020603050405020304" pitchFamily="18" charset="0"/>
                <a:cs typeface="Times New Roman" panose="02020603050405020304" pitchFamily="18" charset="0"/>
              </a:rPr>
            </a:b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IN" sz="1800" dirty="0">
                <a:latin typeface="Times New Roman" panose="02020603050405020304" pitchFamily="18" charset="0"/>
                <a:cs typeface="Times New Roman" panose="02020603050405020304" pitchFamily="18" charset="0"/>
              </a:rPr>
              <a:t>Developed an Employee Management System using SQL. </a:t>
            </a:r>
          </a:p>
          <a:p>
            <a:pPr marL="114300" indent="0">
              <a:buNone/>
            </a:pP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Organized employee, department, salary, leave, and payroll data efficiently. </a:t>
            </a:r>
          </a:p>
          <a:p>
            <a:pPr marL="114300" indent="0">
              <a:buNone/>
            </a:pP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Maintained accurate data using primary and foreign keys. </a:t>
            </a:r>
          </a:p>
          <a:p>
            <a:pPr marL="114300" indent="0">
              <a:buNone/>
            </a:pP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Generated useful reports using SQL queries and joins. Simplified HR management and improved decision-making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9142"/>
            <a:ext cx="10515600" cy="1439333"/>
          </a:xfrm>
        </p:spPr>
        <p:txBody>
          <a:bodyPr>
            <a:normAutofit/>
          </a:bodyPr>
          <a:lstStyle/>
          <a:p>
            <a:pPr algn="ctr"/>
            <a:r>
              <a:rPr lang="en-IN" sz="36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Conclusion</a:t>
            </a:r>
          </a:p>
        </p:txBody>
      </p:sp>
      <p:sp>
        <p:nvSpPr>
          <p:cNvPr id="3" name="Text Placeholder 2"/>
          <p:cNvSpPr>
            <a:spLocks noGrp="1"/>
          </p:cNvSpPr>
          <p:nvPr>
            <p:ph type="body" idx="1"/>
          </p:nvPr>
        </p:nvSpPr>
        <p:spPr>
          <a:xfrm>
            <a:off x="838199" y="1612490"/>
            <a:ext cx="10515601" cy="4247536"/>
          </a:xfrm>
        </p:spPr>
        <p:txBody>
          <a:bodyPr>
            <a:noAutofit/>
          </a:bodyPr>
          <a:lstStyle/>
          <a:p>
            <a:pPr>
              <a:lnSpc>
                <a:spcPct val="100000"/>
              </a:lnSpc>
            </a:pPr>
            <a:r>
              <a:rPr lang="en-IN" sz="1800" dirty="0">
                <a:latin typeface="Times New Roman" panose="02020603050405020304" pitchFamily="18" charset="0"/>
                <a:cs typeface="Times New Roman" panose="02020603050405020304" pitchFamily="18" charset="0"/>
              </a:rPr>
              <a:t>We successfully developed an Employee Management System using SQL. </a:t>
            </a:r>
          </a:p>
          <a:p>
            <a:pPr>
              <a:lnSpc>
                <a:spcPct val="100000"/>
              </a:lnSpc>
            </a:pPr>
            <a:r>
              <a:rPr lang="en-IN" sz="1800" dirty="0">
                <a:latin typeface="Times New Roman" panose="02020603050405020304" pitchFamily="18" charset="0"/>
                <a:cs typeface="Times New Roman" panose="02020603050405020304" pitchFamily="18" charset="0"/>
              </a:rPr>
              <a:t>The system stores employee, department, salary, qualification, leave, and payroll details in an organized way. </a:t>
            </a:r>
          </a:p>
          <a:p>
            <a:pPr>
              <a:lnSpc>
                <a:spcPct val="100000"/>
              </a:lnSpc>
            </a:pPr>
            <a:r>
              <a:rPr lang="en-IN" sz="1800" dirty="0">
                <a:latin typeface="Times New Roman" panose="02020603050405020304" pitchFamily="18" charset="0"/>
                <a:cs typeface="Times New Roman" panose="02020603050405020304" pitchFamily="18" charset="0"/>
              </a:rPr>
              <a:t>We used primary keys and foreign keys to maintain accurate and connected data. SQL queries helped us </a:t>
            </a:r>
          </a:p>
          <a:p>
            <a:pPr>
              <a:lnSpc>
                <a:spcPct val="100000"/>
              </a:lnSpc>
            </a:pP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employee and payroll information and generate useful reports. </a:t>
            </a:r>
          </a:p>
          <a:p>
            <a:pPr>
              <a:lnSpc>
                <a:spcPct val="100000"/>
              </a:lnSpc>
            </a:pPr>
            <a:r>
              <a:rPr lang="en-IN" sz="1800" dirty="0">
                <a:latin typeface="Times New Roman" panose="02020603050405020304" pitchFamily="18" charset="0"/>
                <a:cs typeface="Times New Roman" panose="02020603050405020304" pitchFamily="18" charset="0"/>
              </a:rPr>
              <a:t>Overall, this project simplifies HR management, reduces manual work, and supports better decision-making.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793102" y="2780521"/>
            <a:ext cx="5523722" cy="170750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US" sz="6000" b="0" i="0" u="none" strike="noStrike" cap="none"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rPr>
              <a:t>THANK YOU</a:t>
            </a:r>
            <a:endParaRPr sz="6000" b="0" i="0" u="none" strike="noStrike" cap="none" dirty="0">
              <a:solidFill>
                <a:srgbClr val="FF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TotalTime>
  <Words>1291</Words>
  <Application>Microsoft Office PowerPoint</Application>
  <PresentationFormat>Widescreen</PresentationFormat>
  <Paragraphs>236</Paragraphs>
  <Slides>24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Lato Black</vt:lpstr>
      <vt:lpstr>Libre Baskerville</vt:lpstr>
      <vt:lpstr>Calibri</vt:lpstr>
      <vt:lpstr>Arial Rounded MT Bold</vt:lpstr>
      <vt:lpstr>Times New Roman</vt:lpstr>
      <vt:lpstr>Office Theme</vt:lpstr>
      <vt:lpstr>PowerPoint Presentation</vt:lpstr>
      <vt:lpstr>PowerPoint Presentation</vt:lpstr>
      <vt:lpstr>AGENDA   </vt:lpstr>
      <vt:lpstr>Objective of the Project</vt:lpstr>
      <vt:lpstr>  INTRODUCTION</vt:lpstr>
      <vt:lpstr>                                ER Diagram</vt:lpstr>
      <vt:lpstr>PowerPoint Presentation</vt:lpstr>
      <vt:lpstr>PowerPoint Presentation</vt:lpstr>
      <vt:lpstr>PowerPoint Presentation</vt:lpstr>
      <vt:lpstr>PowerPoint Presentation</vt:lpstr>
      <vt:lpstr>                                  Analysis Questions  1. EMPLOYEE INSIGHTS  How many unique employees are currently in the system?  </vt:lpstr>
      <vt:lpstr>Which departments have the highest number of employees?  </vt:lpstr>
      <vt:lpstr>  2.  JOB ROLE AND DEPARTMENT ANALYSIS   How many different job roles exist in each department?</vt:lpstr>
      <vt:lpstr>Which departments have the highest total salary allocation?</vt:lpstr>
      <vt:lpstr> 3. QUALIFICATION AND SKILLS ANALYSIS  How which positions requires the most qualification     </vt:lpstr>
      <vt:lpstr> How many employees have at least one qualification listed?    </vt:lpstr>
      <vt:lpstr>4. Leave And Absence Patterns  Which year had the most employees taking leaves?</vt:lpstr>
      <vt:lpstr>Which employees have taken the most leaves?</vt:lpstr>
      <vt:lpstr>5. Payroll And Compensation Analysis  What is the total monthly payroll processed?</vt:lpstr>
      <vt:lpstr>Which department receives the highest total bonuses?</vt:lpstr>
      <vt:lpstr>                Key Insights and Recommendations</vt:lpstr>
      <vt:lpstr>Experience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Kopuri Poojitha</cp:lastModifiedBy>
  <cp:revision>22</cp:revision>
  <dcterms:created xsi:type="dcterms:W3CDTF">2021-02-16T05:19:00Z</dcterms:created>
  <dcterms:modified xsi:type="dcterms:W3CDTF">2026-06-27T05:36:51Z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C972FE3CD01245BE9C17FDD91668F9A8_12</vt:lpwstr>
  </property>
</Properties>
</file>